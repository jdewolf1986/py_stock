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56" r:id="rId4"/>
    <p:sldId id="261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23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PNL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2A-421D-854E-45097E0B6E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4687600"/>
        <c:axId val="1844688016"/>
      </c:lineChart>
      <c:catAx>
        <c:axId val="1844687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4688016"/>
        <c:crosses val="autoZero"/>
        <c:auto val="1"/>
        <c:lblAlgn val="ctr"/>
        <c:lblOffset val="100"/>
        <c:noMultiLvlLbl val="0"/>
      </c:catAx>
      <c:valAx>
        <c:axId val="184468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687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</a:t>
            </a:r>
            <a:r>
              <a:rPr lang="en-US" baseline="0" dirty="0"/>
              <a:t> per Sector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1B8-4B71-9412-5C9727220CD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1B8-4B71-9412-5C9727220CD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1B8-4B71-9412-5C9727220CD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1B8-4B71-9412-5C9727220C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Medical</c:v>
                </c:pt>
                <c:pt idx="1">
                  <c:v>Technology</c:v>
                </c:pt>
                <c:pt idx="2">
                  <c:v>Consumer Cyclic</c:v>
                </c:pt>
                <c:pt idx="3">
                  <c:v>stock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B8-4B71-9412-5C9727220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843452864"/>
        <c:axId val="1843471168"/>
      </c:barChart>
      <c:valAx>
        <c:axId val="1843471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52864"/>
        <c:crosses val="autoZero"/>
        <c:crossBetween val="between"/>
      </c:valAx>
      <c:catAx>
        <c:axId val="18434528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71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layout>
        <c:manualLayout>
          <c:xMode val="edge"/>
          <c:yMode val="edge"/>
          <c:x val="0.54077341413530877"/>
          <c:y val="0.24369971315837405"/>
          <c:w val="0.32687952552724248"/>
          <c:h val="0.646380807218276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 per</a:t>
            </a:r>
            <a:r>
              <a:rPr lang="en-US" baseline="0" dirty="0"/>
              <a:t> Region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A2-40C3-86A9-D8AD59BB93A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BA2-40C3-86A9-D8AD59BB93A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BA2-40C3-86A9-D8AD59BB93A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BA2-40C3-86A9-D8AD59BB93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US</c:v>
                </c:pt>
                <c:pt idx="1">
                  <c:v>Europe</c:v>
                </c:pt>
                <c:pt idx="2">
                  <c:v>Asia developed</c:v>
                </c:pt>
                <c:pt idx="3">
                  <c:v>Oceania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A2-40C3-86A9-D8AD59BB9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843464512"/>
        <c:axId val="1843468256"/>
      </c:barChart>
      <c:valAx>
        <c:axId val="1843468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64512"/>
        <c:crosses val="autoZero"/>
        <c:crossBetween val="between"/>
      </c:valAx>
      <c:catAx>
        <c:axId val="18434645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682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494172941412903"/>
          <c:y val="0.32712856375884353"/>
          <c:w val="0.31278801802981487"/>
          <c:h val="0.55715656154752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B2-4B87-A322-D468308DD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B2-4B87-A322-D468308DDC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CB2-4B87-A322-D468308DD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4687600"/>
        <c:axId val="1844688016"/>
      </c:lineChart>
      <c:catAx>
        <c:axId val="1844687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4688016"/>
        <c:crosses val="autoZero"/>
        <c:auto val="1"/>
        <c:lblAlgn val="ctr"/>
        <c:lblOffset val="100"/>
        <c:noMultiLvlLbl val="0"/>
      </c:catAx>
      <c:valAx>
        <c:axId val="184468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68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1D-42B9-B5A3-2B9E3852B3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1D-42B9-B5A3-2B9E3852B3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1D-42B9-B5A3-2B9E3852B3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4687600"/>
        <c:axId val="1844688016"/>
      </c:lineChart>
      <c:catAx>
        <c:axId val="1844687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4688016"/>
        <c:crosses val="autoZero"/>
        <c:auto val="1"/>
        <c:lblAlgn val="ctr"/>
        <c:lblOffset val="100"/>
        <c:noMultiLvlLbl val="0"/>
      </c:catAx>
      <c:valAx>
        <c:axId val="184468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68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</a:t>
            </a:r>
            <a:r>
              <a:rPr lang="en-US" baseline="0" dirty="0"/>
              <a:t> per Sector</a:t>
            </a:r>
          </a:p>
          <a:p>
            <a:pPr>
              <a:defRPr/>
            </a:pPr>
            <a:r>
              <a:rPr lang="en-US" baseline="0" dirty="0"/>
              <a:t>WITHOUT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Medical</c:v>
                </c:pt>
                <c:pt idx="1">
                  <c:v>Technology</c:v>
                </c:pt>
                <c:pt idx="2">
                  <c:v>Consumer Cyclic</c:v>
                </c:pt>
                <c:pt idx="3">
                  <c:v>stock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3-4810-B2C5-C4DE1B7724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49187328"/>
        <c:axId val="1349186496"/>
      </c:barChart>
      <c:valAx>
        <c:axId val="13491864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9187328"/>
        <c:crosses val="autoZero"/>
        <c:crossBetween val="between"/>
      </c:valAx>
      <c:catAx>
        <c:axId val="13491873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91864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 per</a:t>
            </a:r>
            <a:r>
              <a:rPr lang="en-US" baseline="0" dirty="0"/>
              <a:t> Region WITHOUT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1D-4EC5-A120-C934973FE87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1D-4EC5-A120-C934973FE87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C1D-4EC5-A120-C934973FE87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C1D-4EC5-A120-C934973FE8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US</c:v>
                </c:pt>
                <c:pt idx="1">
                  <c:v>Europe</c:v>
                </c:pt>
                <c:pt idx="2">
                  <c:v>Asia developed</c:v>
                </c:pt>
                <c:pt idx="3">
                  <c:v>Oceania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C1D-4EC5-A120-C934973FE8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19669376"/>
        <c:axId val="1719674368"/>
      </c:barChart>
      <c:valAx>
        <c:axId val="1719674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9669376"/>
        <c:crosses val="autoZero"/>
        <c:crossBetween val="between"/>
      </c:valAx>
      <c:catAx>
        <c:axId val="17196693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96743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494172941412903"/>
          <c:y val="0.32712856375884353"/>
          <c:w val="0.38837907426689983"/>
          <c:h val="0.611738155929304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166119745326364E-2"/>
          <c:y val="7.6260194211886637E-2"/>
          <c:w val="0.59019021977712016"/>
          <c:h val="0.8339882487042449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case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3.08</c:v>
                </c:pt>
                <c:pt idx="1">
                  <c:v>3.08</c:v>
                </c:pt>
                <c:pt idx="2">
                  <c:v>3.08</c:v>
                </c:pt>
                <c:pt idx="3">
                  <c:v>3.08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C5-4FF6-9210-1C356B126C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3.9600000000000004</c:v>
                </c:pt>
                <c:pt idx="1">
                  <c:v>4.4000000000000004</c:v>
                </c:pt>
                <c:pt idx="2">
                  <c:v>4.8400000000000007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C5-4FF6-9210-1C356B126C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Good case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2.2399999999999998</c:v>
                </c:pt>
                <c:pt idx="1">
                  <c:v>2.2399999999999998</c:v>
                </c:pt>
                <c:pt idx="2">
                  <c:v>2.2399999999999998</c:v>
                </c:pt>
                <c:pt idx="3">
                  <c:v>2.2399999999999998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3C5-4FF6-9210-1C356B126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43087664"/>
        <c:axId val="1843095984"/>
      </c:lineChart>
      <c:catAx>
        <c:axId val="18430876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3095984"/>
        <c:crosses val="autoZero"/>
        <c:auto val="1"/>
        <c:lblAlgn val="ctr"/>
        <c:lblOffset val="100"/>
        <c:noMultiLvlLbl val="0"/>
      </c:catAx>
      <c:valAx>
        <c:axId val="184309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087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91-4013-9AA5-01C4B229DF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91-4013-9AA5-01C4B229DF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91-4013-9AA5-01C4B229DF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4687600"/>
        <c:axId val="1844688016"/>
      </c:lineChart>
      <c:catAx>
        <c:axId val="1844687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4688016"/>
        <c:crosses val="autoZero"/>
        <c:auto val="1"/>
        <c:lblAlgn val="ctr"/>
        <c:lblOffset val="100"/>
        <c:noMultiLvlLbl val="0"/>
      </c:catAx>
      <c:valAx>
        <c:axId val="184468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68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GOOGLE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2A-421D-854E-45097E0B6E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4687600"/>
        <c:axId val="1844688016"/>
      </c:lineChart>
      <c:catAx>
        <c:axId val="1844687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4688016"/>
        <c:crosses val="autoZero"/>
        <c:auto val="1"/>
        <c:lblAlgn val="ctr"/>
        <c:lblOffset val="100"/>
        <c:noMultiLvlLbl val="0"/>
      </c:catAx>
      <c:valAx>
        <c:axId val="184468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687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</a:t>
            </a:r>
            <a:r>
              <a:rPr lang="en-US" baseline="0" dirty="0"/>
              <a:t> per Sector</a:t>
            </a:r>
          </a:p>
          <a:p>
            <a:pPr>
              <a:defRPr/>
            </a:pPr>
            <a:r>
              <a:rPr lang="en-US" baseline="0" dirty="0"/>
              <a:t>WITH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1B8-4B71-9412-5C9727220CD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1B8-4B71-9412-5C9727220CD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1B8-4B71-9412-5C9727220CD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1B8-4B71-9412-5C9727220C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Medical</c:v>
                </c:pt>
                <c:pt idx="1">
                  <c:v>Technology</c:v>
                </c:pt>
                <c:pt idx="2">
                  <c:v>Consumer Cyclic</c:v>
                </c:pt>
                <c:pt idx="3">
                  <c:v>stock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B8-4B71-9412-5C9727220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843452864"/>
        <c:axId val="1843471168"/>
      </c:barChart>
      <c:valAx>
        <c:axId val="1843471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52864"/>
        <c:crosses val="autoZero"/>
        <c:crossBetween val="between"/>
      </c:valAx>
      <c:catAx>
        <c:axId val="18434528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71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layout>
        <c:manualLayout>
          <c:xMode val="edge"/>
          <c:yMode val="edge"/>
          <c:x val="0.54077341413530877"/>
          <c:y val="0.24369971315837405"/>
          <c:w val="0.32687952552724248"/>
          <c:h val="0.43092053814551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 per</a:t>
            </a:r>
            <a:r>
              <a:rPr lang="en-US" baseline="0" dirty="0"/>
              <a:t> Region WITH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A2-40C3-86A9-D8AD59BB93A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BA2-40C3-86A9-D8AD59BB93A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BA2-40C3-86A9-D8AD59BB93A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BA2-40C3-86A9-D8AD59BB93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US</c:v>
                </c:pt>
                <c:pt idx="1">
                  <c:v>Europe</c:v>
                </c:pt>
                <c:pt idx="2">
                  <c:v>Asia developed</c:v>
                </c:pt>
                <c:pt idx="3">
                  <c:v>Oceania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A2-40C3-86A9-D8AD59BB9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843464512"/>
        <c:axId val="1843468256"/>
      </c:barChart>
      <c:valAx>
        <c:axId val="1843468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64512"/>
        <c:crosses val="autoZero"/>
        <c:crossBetween val="between"/>
      </c:valAx>
      <c:catAx>
        <c:axId val="18434645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34682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494172941412903"/>
          <c:y val="0.32712856375884353"/>
          <c:w val="0.31278801802981487"/>
          <c:h val="0.55715656154752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1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88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1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2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6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0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F6C26-49F8-44B8-B4BE-47925A350A44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6FC5D-AC5A-4657-9F85-4D747A5C0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C38AE8D6-C2F2-4BC6-A6A5-5AB9E8462D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500872"/>
              </p:ext>
            </p:extLst>
          </p:nvPr>
        </p:nvGraphicFramePr>
        <p:xfrm>
          <a:off x="524075" y="3421528"/>
          <a:ext cx="4730678" cy="1888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C0B5632-A5CE-48FE-8DCE-E5C7FF1A0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182268"/>
              </p:ext>
            </p:extLst>
          </p:nvPr>
        </p:nvGraphicFramePr>
        <p:xfrm>
          <a:off x="5356791" y="3427304"/>
          <a:ext cx="1141544" cy="18881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048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443496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</a:tblGrid>
              <a:tr h="397945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1000" dirty="0"/>
                        <a:t>Price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1000" dirty="0" err="1"/>
                        <a:t>Inleg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532039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1000" dirty="0"/>
                        <a:t>Gain/Loss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55370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1000" dirty="0"/>
                        <a:t>Gain/Loss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6052"/>
                  </a:ext>
                </a:extLst>
              </a:tr>
              <a:tr h="298191">
                <a:tc>
                  <a:txBody>
                    <a:bodyPr/>
                    <a:lstStyle/>
                    <a:p>
                      <a:r>
                        <a:rPr lang="en-US" sz="1000" dirty="0"/>
                        <a:t>Gain annual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961063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1000" dirty="0"/>
                        <a:t>Dividend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2.1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145483"/>
                  </a:ext>
                </a:extLst>
              </a:tr>
            </a:tbl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31B97664-4C8C-4B25-8332-E8DB16AF25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1972362"/>
              </p:ext>
            </p:extLst>
          </p:nvPr>
        </p:nvGraphicFramePr>
        <p:xfrm>
          <a:off x="3584448" y="5421276"/>
          <a:ext cx="2913887" cy="20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2FF90098-C479-4D23-B794-3326B42DB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614703"/>
              </p:ext>
            </p:extLst>
          </p:nvPr>
        </p:nvGraphicFramePr>
        <p:xfrm>
          <a:off x="524074" y="5421276"/>
          <a:ext cx="2856158" cy="2058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2AD1376-D2B1-49C3-B780-5E49AF91DC12}"/>
              </a:ext>
            </a:extLst>
          </p:cNvPr>
          <p:cNvSpPr txBox="1"/>
          <p:nvPr/>
        </p:nvSpPr>
        <p:spPr>
          <a:xfrm>
            <a:off x="2691032" y="420812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Portfolio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1B27C20-8A63-43F7-9C03-D51458578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0516"/>
              </p:ext>
            </p:extLst>
          </p:nvPr>
        </p:nvGraphicFramePr>
        <p:xfrm>
          <a:off x="569442" y="987125"/>
          <a:ext cx="5928891" cy="2214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372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855401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987001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1039952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  <a:gridCol w="925863">
                  <a:extLst>
                    <a:ext uri="{9D8B030D-6E8A-4147-A177-3AD203B41FA5}">
                      <a16:colId xmlns:a16="http://schemas.microsoft.com/office/drawing/2014/main" val="692056434"/>
                    </a:ext>
                  </a:extLst>
                </a:gridCol>
                <a:gridCol w="774302">
                  <a:extLst>
                    <a:ext uri="{9D8B030D-6E8A-4147-A177-3AD203B41FA5}">
                      <a16:colId xmlns:a16="http://schemas.microsoft.com/office/drawing/2014/main" val="222446546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r>
                        <a:rPr lang="en-US" sz="1000" dirty="0"/>
                        <a:t>Stock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Price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Buy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Intrisic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Share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PNL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GOOG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67-%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APPL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+100%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SHELL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ABCD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67-%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90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EFGH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20%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+100%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3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IJKL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0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MNOP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67-%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0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QRST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+100%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10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UVWX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66265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A082DCC-1DF5-4FA7-99FC-F801823F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889401"/>
              </p:ext>
            </p:extLst>
          </p:nvPr>
        </p:nvGraphicFramePr>
        <p:xfrm>
          <a:off x="517895" y="7618634"/>
          <a:ext cx="5980439" cy="2148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078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862838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995582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1048994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  <a:gridCol w="933913">
                  <a:extLst>
                    <a:ext uri="{9D8B030D-6E8A-4147-A177-3AD203B41FA5}">
                      <a16:colId xmlns:a16="http://schemas.microsoft.com/office/drawing/2014/main" val="692056434"/>
                    </a:ext>
                  </a:extLst>
                </a:gridCol>
                <a:gridCol w="781034">
                  <a:extLst>
                    <a:ext uri="{9D8B030D-6E8A-4147-A177-3AD203B41FA5}">
                      <a16:colId xmlns:a16="http://schemas.microsoft.com/office/drawing/2014/main" val="2224465464"/>
                    </a:ext>
                  </a:extLst>
                </a:gridCol>
              </a:tblGrid>
              <a:tr h="313768">
                <a:tc>
                  <a:txBody>
                    <a:bodyPr/>
                    <a:lstStyle/>
                    <a:p>
                      <a:r>
                        <a:rPr lang="en-US" sz="1000" dirty="0"/>
                        <a:t>Transactions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EXCH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Buy/Sell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CUR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aaa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bbb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178814">
                <a:tc>
                  <a:txBody>
                    <a:bodyPr/>
                    <a:lstStyle/>
                    <a:p>
                      <a:r>
                        <a:rPr lang="en-US" sz="1000" dirty="0"/>
                        <a:t>GOOG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AMS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67-%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178814">
                <a:tc>
                  <a:txBody>
                    <a:bodyPr/>
                    <a:lstStyle/>
                    <a:p>
                      <a:r>
                        <a:rPr lang="en-US" sz="1000" dirty="0"/>
                        <a:t>APPL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AMS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EUR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+100%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SHELL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NSY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AUS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ABCD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AMS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-10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EUR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67-%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902337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EFGH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NSY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20%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+100%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33904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IJKL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BOR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-3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RMB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09547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MNOP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AUS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67-%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109239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QRST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FRA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EUR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+100%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106631"/>
                  </a:ext>
                </a:extLst>
              </a:tr>
              <a:tr h="173816">
                <a:tc>
                  <a:txBody>
                    <a:bodyPr/>
                    <a:lstStyle/>
                    <a:p>
                      <a:r>
                        <a:rPr lang="en-US" sz="1000" dirty="0"/>
                        <a:t>UVWX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AMS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BTC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66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141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2AD1376-D2B1-49C3-B780-5E49AF91DC12}"/>
              </a:ext>
            </a:extLst>
          </p:cNvPr>
          <p:cNvSpPr txBox="1"/>
          <p:nvPr/>
        </p:nvSpPr>
        <p:spPr>
          <a:xfrm>
            <a:off x="2691032" y="420812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Watchlist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1B27C20-8A63-43F7-9C03-D51458578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734984"/>
              </p:ext>
            </p:extLst>
          </p:nvPr>
        </p:nvGraphicFramePr>
        <p:xfrm>
          <a:off x="569442" y="987125"/>
          <a:ext cx="1335723" cy="2214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170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387033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r>
                        <a:rPr lang="en-US" sz="1000" dirty="0"/>
                        <a:t>Stock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Price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Intrisic</a:t>
                      </a:r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GOOG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APPL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SHELL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ABCD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90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EFGH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3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IJKL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0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MNOP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0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QRST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10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UVWX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662656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896F915-DA48-4E0C-AB29-67E8E749B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614684"/>
              </p:ext>
            </p:extLst>
          </p:nvPr>
        </p:nvGraphicFramePr>
        <p:xfrm>
          <a:off x="2145793" y="987124"/>
          <a:ext cx="4352542" cy="2214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7A02AE2-1965-4C13-839C-542AFF6CF9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8401510"/>
              </p:ext>
            </p:extLst>
          </p:nvPr>
        </p:nvGraphicFramePr>
        <p:xfrm>
          <a:off x="569442" y="3398309"/>
          <a:ext cx="5928892" cy="6233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805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ECA3B4-4241-4435-8D01-2649AA0C50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447956"/>
              </p:ext>
            </p:extLst>
          </p:nvPr>
        </p:nvGraphicFramePr>
        <p:xfrm>
          <a:off x="3633216" y="7644383"/>
          <a:ext cx="2913887" cy="20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2943D69-A4A5-42B6-9265-29E5AA93E3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4647695"/>
              </p:ext>
            </p:extLst>
          </p:nvPr>
        </p:nvGraphicFramePr>
        <p:xfrm>
          <a:off x="572842" y="7644383"/>
          <a:ext cx="2856158" cy="2058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7A2F622-134D-415A-9B6B-6C183F2CE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02322"/>
              </p:ext>
            </p:extLst>
          </p:nvPr>
        </p:nvGraphicFramePr>
        <p:xfrm>
          <a:off x="572842" y="4322695"/>
          <a:ext cx="2078396" cy="9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048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443496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511726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425126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Bad 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 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Good 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Rule #1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Method 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&lt;16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Method 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&lt;14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&lt;15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6CCE480-B780-4194-965B-8E7C6F002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792379"/>
              </p:ext>
            </p:extLst>
          </p:nvPr>
        </p:nvGraphicFramePr>
        <p:xfrm>
          <a:off x="572842" y="3256844"/>
          <a:ext cx="2078396" cy="9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048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443496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511726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425126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1yr</a:t>
                      </a:r>
                    </a:p>
                    <a:p>
                      <a:r>
                        <a:rPr lang="en-US" sz="1000" dirty="0"/>
                        <a:t>avg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5yr</a:t>
                      </a:r>
                    </a:p>
                    <a:p>
                      <a:r>
                        <a:rPr lang="en-US" sz="1000" dirty="0"/>
                        <a:t>avg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10yr</a:t>
                      </a:r>
                    </a:p>
                    <a:p>
                      <a:r>
                        <a:rPr lang="en-US" sz="1000" dirty="0"/>
                        <a:t>avg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ROIC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BKVL 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CF 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</a:tbl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8DE1662-55F0-4C54-8B96-F3535C8D42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397186"/>
              </p:ext>
            </p:extLst>
          </p:nvPr>
        </p:nvGraphicFramePr>
        <p:xfrm>
          <a:off x="2787695" y="4280118"/>
          <a:ext cx="3759408" cy="102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7A137255-6073-4291-A534-06CE4070AA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827163"/>
              </p:ext>
            </p:extLst>
          </p:nvPr>
        </p:nvGraphicFramePr>
        <p:xfrm>
          <a:off x="2787694" y="3256844"/>
          <a:ext cx="3759409" cy="982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C38AE8D6-C2F2-4BC6-A6A5-5AB9E8462D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9891254"/>
              </p:ext>
            </p:extLst>
          </p:nvPr>
        </p:nvGraphicFramePr>
        <p:xfrm>
          <a:off x="572843" y="1080664"/>
          <a:ext cx="4730678" cy="1835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C0B5632-A5CE-48FE-8DCE-E5C7FF1A0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069999"/>
              </p:ext>
            </p:extLst>
          </p:nvPr>
        </p:nvGraphicFramePr>
        <p:xfrm>
          <a:off x="5405559" y="1086439"/>
          <a:ext cx="1141544" cy="18358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048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443496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1yr</a:t>
                      </a:r>
                    </a:p>
                    <a:p>
                      <a:r>
                        <a:rPr lang="en-US" sz="1000" dirty="0"/>
                        <a:t>avg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EPS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PE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Price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52 </a:t>
                      </a:r>
                      <a:r>
                        <a:rPr lang="en-US" sz="1000" dirty="0" err="1"/>
                        <a:t>wk</a:t>
                      </a:r>
                      <a:r>
                        <a:rPr lang="en-US" sz="1000" dirty="0"/>
                        <a:t> high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53203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52 </a:t>
                      </a:r>
                      <a:r>
                        <a:rPr lang="en-US" sz="1000" dirty="0" err="1"/>
                        <a:t>wk</a:t>
                      </a:r>
                      <a:r>
                        <a:rPr lang="en-US" sz="1000" dirty="0"/>
                        <a:t> low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55370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Earning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96052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Std dev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145483"/>
                  </a:ext>
                </a:extLst>
              </a:tr>
            </a:tbl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31B97664-4C8C-4B25-8332-E8DB16AF25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3142233"/>
              </p:ext>
            </p:extLst>
          </p:nvPr>
        </p:nvGraphicFramePr>
        <p:xfrm>
          <a:off x="3633216" y="5494428"/>
          <a:ext cx="2913887" cy="20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2FF90098-C479-4D23-B794-3326B42DB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808736"/>
              </p:ext>
            </p:extLst>
          </p:nvPr>
        </p:nvGraphicFramePr>
        <p:xfrm>
          <a:off x="572842" y="5494428"/>
          <a:ext cx="2856158" cy="2058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80CA5EA-75D6-40D1-BA02-E617B0E79E79}"/>
              </a:ext>
            </a:extLst>
          </p:cNvPr>
          <p:cNvSpPr txBox="1"/>
          <p:nvPr/>
        </p:nvSpPr>
        <p:spPr>
          <a:xfrm>
            <a:off x="2538632" y="268412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AAC593-7CC8-4A48-A808-A9554634C9DA}"/>
              </a:ext>
            </a:extLst>
          </p:cNvPr>
          <p:cNvSpPr/>
          <p:nvPr/>
        </p:nvSpPr>
        <p:spPr>
          <a:xfrm>
            <a:off x="0" y="4239256"/>
            <a:ext cx="2787694" cy="1163992"/>
          </a:xfrm>
          <a:prstGeom prst="rect">
            <a:avLst/>
          </a:prstGeom>
          <a:solidFill>
            <a:schemeClr val="accent2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/>
              <a:t>calc_intr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01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7A2F622-134D-415A-9B6B-6C183F2CE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496339"/>
              </p:ext>
            </p:extLst>
          </p:nvPr>
        </p:nvGraphicFramePr>
        <p:xfrm>
          <a:off x="342979" y="7035507"/>
          <a:ext cx="2573878" cy="9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447358">
                  <a:extLst>
                    <a:ext uri="{9D8B030D-6E8A-4147-A177-3AD203B41FA5}">
                      <a16:colId xmlns:a16="http://schemas.microsoft.com/office/drawing/2014/main" val="1364963897"/>
                    </a:ext>
                  </a:extLst>
                </a:gridCol>
                <a:gridCol w="365503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544968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576604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Worse</a:t>
                      </a:r>
                    </a:p>
                    <a:p>
                      <a:r>
                        <a:rPr lang="en-US" sz="1000" dirty="0"/>
                        <a:t>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Bad 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 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Good case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Rule #1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Method 2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&lt;16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9857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Method 3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&lt;14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&lt;15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9283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80CA5EA-75D6-40D1-BA02-E617B0E79E79}"/>
              </a:ext>
            </a:extLst>
          </p:cNvPr>
          <p:cNvSpPr txBox="1"/>
          <p:nvPr/>
        </p:nvSpPr>
        <p:spPr>
          <a:xfrm>
            <a:off x="2477672" y="190071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 Analysis – Calc </a:t>
            </a:r>
            <a:r>
              <a:rPr lang="en-US" dirty="0" err="1"/>
              <a:t>Intr</a:t>
            </a:r>
            <a:endParaRPr lang="en-US" dirty="0"/>
          </a:p>
        </p:txBody>
      </p:sp>
      <p:graphicFrame>
        <p:nvGraphicFramePr>
          <p:cNvPr id="26" name="Table 9">
            <a:extLst>
              <a:ext uri="{FF2B5EF4-FFF2-40B4-BE49-F238E27FC236}">
                <a16:creationId xmlns:a16="http://schemas.microsoft.com/office/drawing/2014/main" id="{74C796FA-0BC7-4312-992E-993C17598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059740"/>
              </p:ext>
            </p:extLst>
          </p:nvPr>
        </p:nvGraphicFramePr>
        <p:xfrm>
          <a:off x="342979" y="2596736"/>
          <a:ext cx="2563028" cy="9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816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546909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631048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524255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r1=9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r2=12%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r3=15%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G1=0.5g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Worse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G2=g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54453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G3=1.5g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860836"/>
                  </a:ext>
                </a:extLst>
              </a:tr>
            </a:tbl>
          </a:graphicData>
        </a:graphic>
      </p:graphicFrame>
      <p:graphicFrame>
        <p:nvGraphicFramePr>
          <p:cNvPr id="27" name="Table 9">
            <a:extLst>
              <a:ext uri="{FF2B5EF4-FFF2-40B4-BE49-F238E27FC236}">
                <a16:creationId xmlns:a16="http://schemas.microsoft.com/office/drawing/2014/main" id="{97B0A5D7-9501-4B93-A14B-4C83279E0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027295"/>
              </p:ext>
            </p:extLst>
          </p:nvPr>
        </p:nvGraphicFramePr>
        <p:xfrm>
          <a:off x="342979" y="4133806"/>
          <a:ext cx="2563028" cy="9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816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546909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631048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524255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r1=9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r2=12%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r3=15%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G1=0.5g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Bad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G2=g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54453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G3=1.5g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860836"/>
                  </a:ext>
                </a:extLst>
              </a:tr>
            </a:tbl>
          </a:graphicData>
        </a:graphic>
      </p:graphicFrame>
      <p:graphicFrame>
        <p:nvGraphicFramePr>
          <p:cNvPr id="28" name="Table 9">
            <a:extLst>
              <a:ext uri="{FF2B5EF4-FFF2-40B4-BE49-F238E27FC236}">
                <a16:creationId xmlns:a16="http://schemas.microsoft.com/office/drawing/2014/main" id="{89D548CC-D045-4C54-9A89-402334179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433159"/>
              </p:ext>
            </p:extLst>
          </p:nvPr>
        </p:nvGraphicFramePr>
        <p:xfrm>
          <a:off x="353829" y="5689661"/>
          <a:ext cx="2563028" cy="99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816">
                  <a:extLst>
                    <a:ext uri="{9D8B030D-6E8A-4147-A177-3AD203B41FA5}">
                      <a16:colId xmlns:a16="http://schemas.microsoft.com/office/drawing/2014/main" val="462455711"/>
                    </a:ext>
                  </a:extLst>
                </a:gridCol>
                <a:gridCol w="546909">
                  <a:extLst>
                    <a:ext uri="{9D8B030D-6E8A-4147-A177-3AD203B41FA5}">
                      <a16:colId xmlns:a16="http://schemas.microsoft.com/office/drawing/2014/main" val="245902409"/>
                    </a:ext>
                  </a:extLst>
                </a:gridCol>
                <a:gridCol w="631048">
                  <a:extLst>
                    <a:ext uri="{9D8B030D-6E8A-4147-A177-3AD203B41FA5}">
                      <a16:colId xmlns:a16="http://schemas.microsoft.com/office/drawing/2014/main" val="3950963415"/>
                    </a:ext>
                  </a:extLst>
                </a:gridCol>
                <a:gridCol w="524255">
                  <a:extLst>
                    <a:ext uri="{9D8B030D-6E8A-4147-A177-3AD203B41FA5}">
                      <a16:colId xmlns:a16="http://schemas.microsoft.com/office/drawing/2014/main" val="1406806934"/>
                    </a:ext>
                  </a:extLst>
                </a:gridCol>
              </a:tblGrid>
              <a:tr h="36795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r1=9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r2=12%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r3=15%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730019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G1=0.5g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40158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G2=g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54453"/>
                  </a:ext>
                </a:extLst>
              </a:tr>
              <a:tr h="209697">
                <a:tc>
                  <a:txBody>
                    <a:bodyPr/>
                    <a:lstStyle/>
                    <a:p>
                      <a:r>
                        <a:rPr lang="en-US" sz="1000" dirty="0"/>
                        <a:t>G3=1.5g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Good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86083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70309AE-75E5-4EAF-A750-D16A832896ED}"/>
              </a:ext>
            </a:extLst>
          </p:cNvPr>
          <p:cNvSpPr txBox="1"/>
          <p:nvPr/>
        </p:nvSpPr>
        <p:spPr>
          <a:xfrm>
            <a:off x="353829" y="3661109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 50%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E3A7A6-A553-4808-94A1-E0E534925B09}"/>
              </a:ext>
            </a:extLst>
          </p:cNvPr>
          <p:cNvSpPr txBox="1"/>
          <p:nvPr/>
        </p:nvSpPr>
        <p:spPr>
          <a:xfrm>
            <a:off x="353829" y="5301544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 50%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649C4-A07B-4C37-8689-567BE12B7C46}"/>
              </a:ext>
            </a:extLst>
          </p:cNvPr>
          <p:cNvSpPr txBox="1"/>
          <p:nvPr/>
        </p:nvSpPr>
        <p:spPr>
          <a:xfrm>
            <a:off x="342979" y="2175722"/>
            <a:ext cx="459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 30%</a:t>
            </a:r>
          </a:p>
        </p:txBody>
      </p:sp>
    </p:spTree>
    <p:extLst>
      <p:ext uri="{BB962C8B-B14F-4D97-AF65-F5344CB8AC3E}">
        <p14:creationId xmlns:p14="http://schemas.microsoft.com/office/powerpoint/2010/main" val="65871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F062-D61E-46F1-8E33-F6395B6C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B97A2-FA00-40F0-9BD3-875FCBD40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7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389</Words>
  <Application>Microsoft Office PowerPoint</Application>
  <PresentationFormat>A4 Paper (210x297 mm)</PresentationFormat>
  <Paragraphs>268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roel karstens</dc:creator>
  <cp:lastModifiedBy>roel karstens</cp:lastModifiedBy>
  <cp:revision>11</cp:revision>
  <dcterms:created xsi:type="dcterms:W3CDTF">2021-06-20T08:49:49Z</dcterms:created>
  <dcterms:modified xsi:type="dcterms:W3CDTF">2021-06-25T11:35:28Z</dcterms:modified>
</cp:coreProperties>
</file>